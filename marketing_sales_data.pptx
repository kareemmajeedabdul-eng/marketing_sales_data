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import pandas as pd</a:t>
            </a:r>
            <a:br/>
            <a:r>
              <a:rPr>
                <a:latin typeface="Courier"/>
              </a:rPr>
              <a:t>import numpy as np</a:t>
            </a:r>
            <a:br/>
            <a:r>
              <a:rPr>
                <a:latin typeface="Courier"/>
              </a:rPr>
              <a:t>import seaborn as sns</a:t>
            </a:r>
            <a:br/>
            <a:r>
              <a:rPr>
                <a:latin typeface="Courier"/>
              </a:rPr>
              <a:t>import matplotlib.pyplot as plt</a:t>
            </a:r>
            <a:br/>
            <a:br/>
            <a:r>
              <a:rPr>
                <a:latin typeface="Courier"/>
              </a:rPr>
              <a:t>import statsmodels.api as sm</a:t>
            </a:r>
            <a:br/>
            <a:r>
              <a:rPr>
                <a:latin typeface="Courier"/>
              </a:rPr>
              <a:t>from statsmodels.stats.outliers_influence import variance_inflation_factor</a:t>
            </a:r>
          </a:p>
          <a:p>
            <a:pPr lvl="0" indent="0">
              <a:buNone/>
            </a:pPr>
            <a:r>
              <a:rPr>
                <a:latin typeface="Courier"/>
              </a:rPr>
              <a:t>df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pd.read_csv(</a:t>
            </a:r>
            <a:r>
              <a:rPr>
                <a:solidFill>
                  <a:srgbClr val="4070A0"/>
                </a:solidFill>
                <a:latin typeface="Courier"/>
              </a:rPr>
              <a:t>"marketing_sales_data.csv"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df.head()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TV      Radio  Social Media Influencer       Sales
0     Low   3.518070      2.293790      Micro   55.261284
1     Low   7.756876      2.572287       Mega   67.574904
2    High  20.348988      1.227180      Micro  272.250108
3  Medium  20.108487      2.728374       Mega  195.102176
4    High  31.653200      7.776978       Nano  273.960377</a:t>
            </a:r>
          </a:p>
          <a:p>
            <a:pPr lvl="0" indent="0">
              <a:buNone/>
            </a:pPr>
            <a:r>
              <a:rPr>
                <a:latin typeface="Courier"/>
              </a:rPr>
              <a:t>print(df.shape)</a:t>
            </a:r>
            <a:br/>
            <a:br/>
            <a:r>
              <a:rPr>
                <a:latin typeface="Courier"/>
              </a:rPr>
              <a:t>df.info()</a:t>
            </a:r>
            <a:br/>
            <a:br/>
            <a:r>
              <a:rPr>
                <a:latin typeface="Courier"/>
              </a:rPr>
              <a:t>df.describe()</a:t>
            </a:r>
          </a:p>
          <a:p>
            <a:pPr lvl="0" indent="0">
              <a:buNone/>
            </a:pPr>
            <a:r>
              <a:rPr>
                <a:latin typeface="Courier"/>
              </a:rPr>
              <a:t>(572, 5)
&lt;class 'pandas.core.frame.DataFrame'&gt;
RangeIndex: 572 entries, 0 to 571
Data columns (total 5 columns):
 #   Column        Non-Null Count  Dtype  
---  ------        --------------  -----  
 0   TV            572 non-null    object 
 1   Radio         572 non-null    float64
 2   Social Media  572 non-null    float64
 3   Influencer    572 non-null    object 
 4   Sales         572 non-null    float64
dtypes: float64(3), object(2)
memory usage: 22.5+ KB
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Radio  Social Media       Sales
count  572.000000    572.000000  572.000000
mean    17.520616      3.333803  189.296908
std      9.290933      2.238378   89.871581
min      0.109106      0.000031   33.509810
25%     10.699556      1.585549  118.718722
50%     17.149517      3.150111  184.005362
75%     24.606396      4.730408  264.500118
max     42.271579     11.403625  357.788195</a:t>
            </a:r>
          </a:p>
          <a:p>
            <a:pPr lvl="0" indent="0">
              <a:buNone/>
            </a:pPr>
            <a:r>
              <a:rPr>
                <a:latin typeface="Courier"/>
              </a:rPr>
              <a:t>df.isnull().sum()</a:t>
            </a:r>
          </a:p>
          <a:p>
            <a:pPr lvl="0" indent="0">
              <a:buNone/>
            </a:pPr>
            <a:r>
              <a:rPr>
                <a:latin typeface="Courier"/>
              </a:rPr>
              <a:t>TV              0
Radio           0
Social Media    0
Influencer      0
Sales           0
dtype: int64</a:t>
            </a:r>
          </a:p>
          <a:p>
            <a:pPr lvl="0" indent="0">
              <a:buNone/>
            </a:pPr>
            <a:r>
              <a:rPr>
                <a:latin typeface="Courier"/>
              </a:rPr>
              <a:t>print(</a:t>
            </a:r>
            <a:r>
              <a:rPr>
                <a:solidFill>
                  <a:srgbClr val="4070A0"/>
                </a:solidFill>
                <a:latin typeface="Courier"/>
              </a:rPr>
              <a:t>"Total Missing Values:"</a:t>
            </a:r>
            <a:r>
              <a:rPr>
                <a:latin typeface="Courier"/>
              </a:rPr>
              <a:t>, df.isnull().sum().sum())</a:t>
            </a:r>
          </a:p>
          <a:p>
            <a:pPr lvl="0" indent="0">
              <a:buNone/>
            </a:pPr>
            <a:r>
              <a:rPr>
                <a:latin typeface="Courier"/>
              </a:rPr>
              <a:t>Total Missing Values: 0
</a:t>
            </a:r>
          </a:p>
          <a:p>
            <a:pPr lvl="0" indent="0">
              <a:buNone/>
            </a:pPr>
            <a:r>
              <a:rPr>
                <a:latin typeface="Courier"/>
              </a:rPr>
              <a:t>df_encoded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pd.get_dummies(</a:t>
            </a:r>
            <a:br/>
            <a:r>
              <a:rPr>
                <a:latin typeface="Courier"/>
              </a:rPr>
              <a:t>    df,</a:t>
            </a:r>
            <a:br/>
            <a:r>
              <a:rPr>
                <a:latin typeface="Courier"/>
              </a:rPr>
              <a:t>    columns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"TV"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"Influencer"</a:t>
            </a:r>
            <a:r>
              <a:rPr>
                <a:latin typeface="Courier"/>
              </a:rPr>
              <a:t>],</a:t>
            </a:r>
            <a:br/>
            <a:r>
              <a:rPr>
                <a:latin typeface="Courier"/>
              </a:rPr>
              <a:t>    drop_first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br/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df_encoded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df_encoded.astype(float)</a:t>
            </a:r>
            <a:br/>
            <a:br/>
            <a:r>
              <a:rPr>
                <a:latin typeface="Courier"/>
              </a:rPr>
              <a:t>df_encoded.head()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Radio  Social Media       Sales  TV_Low  TV_Medium  Influencer_Mega  \
0   3.518070      2.293790   55.261284     1.0        0.0              0.0   
1   7.756876      2.572287   67.574904     1.0        0.0              1.0   
2  20.348988      1.227180  272.250108     0.0        0.0              0.0   
3  20.108487      2.728374  195.102176     0.0        1.0              1.0   
4  31.653200      7.776978  273.960377     0.0        0.0              0.0   
   Influencer_Micro  Influencer_Nano  
0               1.0              0.0  
1               0.0              0.0  
2               1.0              0.0  
3               0.0              0.0  
4               0.0              1.0  </a:t>
            </a:r>
          </a:p>
          <a:p>
            <a:pPr lvl="0" indent="0">
              <a:buNone/>
            </a:pPr>
            <a:r>
              <a:rPr>
                <a:latin typeface="Courier"/>
              </a:rPr>
              <a:t>corr_matrix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df_encoded.corr()</a:t>
            </a:r>
            <a:br/>
            <a:br/>
            <a:r>
              <a:rPr>
                <a:latin typeface="Courier"/>
              </a:rPr>
              <a:t>plt.figure(figsize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latin typeface="Courier"/>
              </a:rPr>
              <a:t>))</a:t>
            </a:r>
            <a:br/>
            <a:br/>
            <a:r>
              <a:rPr>
                <a:latin typeface="Courier"/>
              </a:rPr>
              <a:t>sns.heatmap(</a:t>
            </a:r>
            <a:br/>
            <a:r>
              <a:rPr>
                <a:latin typeface="Courier"/>
              </a:rPr>
              <a:t>    corr_matrix,</a:t>
            </a:r>
            <a:br/>
            <a:r>
              <a:rPr>
                <a:latin typeface="Courier"/>
              </a:rPr>
              <a:t>    annot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cmap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"coolwarm"</a:t>
            </a:r>
            <a:br/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plt.title(</a:t>
            </a:r>
            <a:r>
              <a:rPr>
                <a:solidFill>
                  <a:srgbClr val="4070A0"/>
                </a:solidFill>
                <a:latin typeface="Courier"/>
              </a:rPr>
              <a:t>"Correlation Matrix"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plt.show()</a:t>
            </a:r>
          </a:p>
          <a:p>
            <a:pPr lvl="0" marL="0" indent="0">
              <a:buNone/>
            </a:pPr>
          </a:p>
          <a:p>
            <a:pPr lvl="0" indent="0">
              <a:buNone/>
            </a:pPr>
            <a:r>
              <a:rPr>
                <a:latin typeface="Courier"/>
              </a:rPr>
              <a:t>X_vif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df_encoded.drop(</a:t>
            </a:r>
            <a:r>
              <a:rPr>
                <a:solidFill>
                  <a:srgbClr val="4070A0"/>
                </a:solidFill>
                <a:latin typeface="Courier"/>
              </a:rPr>
              <a:t>"Sales"</a:t>
            </a:r>
            <a:r>
              <a:rPr>
                <a:latin typeface="Courier"/>
              </a:rPr>
              <a:t>, axis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X_vif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sm.add_constant(X_vif)</a:t>
            </a:r>
            <a:br/>
            <a:br/>
            <a:r>
              <a:rPr>
                <a:latin typeface="Courier"/>
              </a:rPr>
              <a:t>vif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pd.DataFrame()</a:t>
            </a:r>
            <a:br/>
            <a:br/>
            <a:r>
              <a:rPr>
                <a:latin typeface="Courier"/>
              </a:rPr>
              <a:t>vif[</a:t>
            </a:r>
            <a:r>
              <a:rPr>
                <a:solidFill>
                  <a:srgbClr val="4070A0"/>
                </a:solidFill>
                <a:latin typeface="Courier"/>
              </a:rPr>
              <a:t>"Feature"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X_vif.columns</a:t>
            </a:r>
            <a:br/>
            <a:br/>
            <a:r>
              <a:rPr>
                <a:latin typeface="Courier"/>
              </a:rPr>
              <a:t>vif[</a:t>
            </a:r>
            <a:r>
              <a:rPr>
                <a:solidFill>
                  <a:srgbClr val="4070A0"/>
                </a:solidFill>
                <a:latin typeface="Courier"/>
              </a:rPr>
              <a:t>"VIF"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br/>
            <a:r>
              <a:rPr>
                <a:latin typeface="Courier"/>
              </a:rPr>
              <a:t>    variance_inflation_factor(</a:t>
            </a:r>
            <a:br/>
            <a:r>
              <a:rPr>
                <a:latin typeface="Courier"/>
              </a:rPr>
              <a:t>        X_vif.values,</a:t>
            </a:r>
            <a:br/>
            <a:r>
              <a:rPr>
                <a:latin typeface="Courier"/>
              </a:rPr>
              <a:t>        i</a:t>
            </a:r>
            <a:br/>
            <a:r>
              <a:rPr>
                <a:latin typeface="Courier"/>
              </a:rPr>
              <a:t>    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range(X_vif.shape[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])</a:t>
            </a:r>
            <a:br/>
            <a:r>
              <a:rPr>
                <a:latin typeface="Courier"/>
              </a:rPr>
              <a:t>]</a:t>
            </a:r>
            <a:br/>
            <a:br/>
            <a:r>
              <a:rPr>
                <a:latin typeface="Courier"/>
              </a:rPr>
              <a:t>print(vif)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Feature        VIF
0             const  31.649565
1             Radio   3.479641
2      Social Media   1.669098
3            TV_Low   4.076384
4         TV_Medium   2.233350
5   Influencer_Mega   1.593889
6  Influencer_Micro   1.618434
7   Influencer_Nano   1.627430
</a:t>
            </a:r>
          </a:p>
          <a:p>
            <a:pPr lvl="0" indent="0">
              <a:buNone/>
            </a:pP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df_encoded.drop(</a:t>
            </a:r>
            <a:r>
              <a:rPr>
                <a:solidFill>
                  <a:srgbClr val="4070A0"/>
                </a:solidFill>
                <a:latin typeface="Courier"/>
              </a:rPr>
              <a:t>"Sales"</a:t>
            </a:r>
            <a:r>
              <a:rPr>
                <a:latin typeface="Courier"/>
              </a:rPr>
              <a:t>, axis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df_encoded[</a:t>
            </a:r>
            <a:r>
              <a:rPr>
                <a:solidFill>
                  <a:srgbClr val="4070A0"/>
                </a:solidFill>
                <a:latin typeface="Courier"/>
              </a:rPr>
              <a:t>"Sales"</a:t>
            </a:r>
            <a:r>
              <a:rPr>
                <a:latin typeface="Courier"/>
              </a:rPr>
              <a:t>]</a:t>
            </a:r>
            <a:br/>
            <a:br/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sm.add_constant(X)</a:t>
            </a:r>
            <a:br/>
            <a:br/>
            <a:r>
              <a:rPr>
                <a:latin typeface="Courier"/>
              </a:rPr>
              <a:t>model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sm.OLS(y, X).fit()</a:t>
            </a:r>
            <a:br/>
            <a:br/>
            <a:r>
              <a:rPr>
                <a:latin typeface="Courier"/>
              </a:rPr>
              <a:t>print(model.summary())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                OLS Regression Results                            
==============================================================================
Dep. Variable:                  Sales   R-squared:                       0.904
Model:                            OLS   Adj. R-squared:                  0.903
Method:                 Least Squares   F-statistic:                     760.4
Date:                Fri, 19 Jun 2026   Prob (F-statistic):          1.82e-282
Time:                        09:35:42   Log-Likelihood:                -2713.4
No. Observations:                 572   AIC:                             5443.
Df Residuals:                     564   BIC:                             5478.
Df Model:                           7                                         
Covariance Type:            nonrobust                                         
====================================================================================
                       coef    std err          t      P&gt;|t|      [0.025      0.975]
------------------------------------------------------------------------------------
const              217.4784      6.584     33.031      0.000     204.546     230.411
Radio                2.9735      0.235     12.644      0.000       2.512       3.435
Social Media        -0.1391      0.676     -0.206      0.837      -1.467       1.189
TV_Low            -154.5736      4.949    -31.231      0.000    -164.295    -144.852
TV_Medium          -75.5947      3.647    -20.726      0.000     -82.759     -68.431
Influencer_Mega      2.4948      3.462      0.721      0.471      -4.305       9.295
Influencer_Micro     2.9391      3.378      0.870      0.385      -3.695       9.574
Influencer_Nano      0.8015      3.346      0.240      0.811      -5.770       7.373
==============================================================================
Omnibus:                       58.711   Durbin-Watson:                   1.874
Prob(Omnibus):                  0.000   Jarque-Bera (JB):               17.802
Skew:                           0.057   Prob(JB):                     0.000136
Kurtosis:                       2.143   Cond. No.                         147.
==============================================================================
Notes:
[1] Standard Errors assume that the covariance matrix of the errors is correctly specified.
</a:t>
            </a:r>
          </a:p>
          <a:p>
            <a:pPr lvl="0" indent="0">
              <a:buNone/>
            </a:pPr>
            <a:r>
              <a:rPr>
                <a:latin typeface="Courier"/>
              </a:rPr>
              <a:t>print(</a:t>
            </a:r>
            <a:r>
              <a:rPr>
                <a:solidFill>
                  <a:srgbClr val="4070A0"/>
                </a:solidFill>
                <a:latin typeface="Courier"/>
              </a:rPr>
              <a:t>"Adjusted R-Squared:"</a:t>
            </a:r>
            <a:r>
              <a:rPr>
                <a:latin typeface="Courier"/>
              </a:rPr>
              <a:t>, model.rsquared_adj)</a:t>
            </a:r>
          </a:p>
          <a:p>
            <a:pPr lvl="0" indent="0">
              <a:buNone/>
            </a:pPr>
            <a:r>
              <a:rPr>
                <a:latin typeface="Courier"/>
              </a:rPr>
              <a:t>Adjusted R-Squared: 0.9030011006551627
</a:t>
            </a:r>
          </a:p>
          <a:p>
            <a:pPr lvl="0" indent="0">
              <a:buNone/>
            </a:pPr>
            <a:r>
              <a:rPr>
                <a:latin typeface="Courier"/>
              </a:rPr>
              <a:t>predictions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model.predict(X)</a:t>
            </a:r>
            <a:br/>
            <a:br/>
            <a:r>
              <a:rPr>
                <a:latin typeface="Courier"/>
              </a:rPr>
              <a:t>residuals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y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predictions</a:t>
            </a:r>
          </a:p>
          <a:p>
            <a:pPr lvl="0" indent="0">
              <a:buNone/>
            </a:pPr>
            <a:r>
              <a:rPr>
                <a:latin typeface="Courier"/>
              </a:rPr>
              <a:t>plt.figure(figsize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))</a:t>
            </a:r>
            <a:br/>
            <a:br/>
            <a:r>
              <a:rPr>
                <a:latin typeface="Courier"/>
              </a:rPr>
              <a:t>plt.scatter(</a:t>
            </a:r>
            <a:br/>
            <a:r>
              <a:rPr>
                <a:latin typeface="Courier"/>
              </a:rPr>
              <a:t>    predictions,</a:t>
            </a:r>
            <a:br/>
            <a:r>
              <a:rPr>
                <a:latin typeface="Courier"/>
              </a:rPr>
              <a:t>    residuals</a:t>
            </a:r>
            <a:br/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plt.axhline(</a:t>
            </a:r>
            <a:br/>
            <a:r>
              <a:rPr>
                <a:latin typeface="Courier"/>
              </a:rPr>
              <a:t>    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color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"red"</a:t>
            </a:r>
            <a:br/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plt.xlabel(</a:t>
            </a:r>
            <a:r>
              <a:rPr>
                <a:solidFill>
                  <a:srgbClr val="4070A0"/>
                </a:solidFill>
                <a:latin typeface="Courier"/>
              </a:rPr>
              <a:t>"Predicted Sales"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plt.ylabel(</a:t>
            </a:r>
            <a:r>
              <a:rPr>
                <a:solidFill>
                  <a:srgbClr val="4070A0"/>
                </a:solidFill>
                <a:latin typeface="Courier"/>
              </a:rPr>
              <a:t>"Residuals"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plt.title(</a:t>
            </a:r>
            <a:r>
              <a:rPr>
                <a:solidFill>
                  <a:srgbClr val="4070A0"/>
                </a:solidFill>
                <a:latin typeface="Courier"/>
              </a:rPr>
              <a:t>"Residual Plot"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plt.show()</a:t>
            </a:r>
          </a:p>
          <a:p>
            <a:pPr lvl="0" marL="0" indent="0">
              <a:buNone/>
            </a:pPr>
          </a:p>
          <a:p>
            <a:pPr lvl="0" indent="0">
              <a:buNone/>
            </a:pPr>
            <a:r>
              <a:rPr>
                <a:latin typeface="Courier"/>
              </a:rPr>
              <a:t>sm.qqplot(</a:t>
            </a:r>
            <a:br/>
            <a:r>
              <a:rPr>
                <a:latin typeface="Courier"/>
              </a:rPr>
              <a:t>    residuals,</a:t>
            </a:r>
            <a:br/>
            <a:r>
              <a:rPr>
                <a:latin typeface="Courier"/>
              </a:rPr>
              <a:t>    line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"45"</a:t>
            </a:r>
            <a:br/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plt.title(</a:t>
            </a:r>
            <a:r>
              <a:rPr>
                <a:solidFill>
                  <a:srgbClr val="4070A0"/>
                </a:solidFill>
                <a:latin typeface="Courier"/>
              </a:rPr>
              <a:t>"QQ Plot of Residuals"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plt.show()</a:t>
            </a:r>
          </a:p>
          <a:p>
            <a:pPr lvl="0" marL="0" indent="0">
              <a:buNone/>
            </a:pPr>
          </a:p>
          <a:p>
            <a:pPr lvl="0" indent="0">
              <a:buNone/>
            </a:pP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2026-06-19T16:51:17Z</dcterms:created>
  <dcterms:modified xsi:type="dcterms:W3CDTF">2026-06-19T16:51:17Z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jupyter">
    <vt:lpwstr/>
  </property>
</Properties>
</file>